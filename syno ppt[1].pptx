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5" r:id="rId2"/>
    <p:sldId id="309" r:id="rId3"/>
    <p:sldId id="334" r:id="rId4"/>
    <p:sldId id="333" r:id="rId5"/>
    <p:sldId id="335" r:id="rId6"/>
    <p:sldId id="336" r:id="rId7"/>
    <p:sldId id="337" r:id="rId8"/>
    <p:sldId id="339" r:id="rId9"/>
    <p:sldId id="343" r:id="rId10"/>
    <p:sldId id="32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9977A1-AFFB-4F01-B672-2BC8820BC4C8}" type="datetimeFigureOut">
              <a:rPr lang="en-IN" smtClean="0"/>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D1D401-3F0D-43E5-AD16-06ED8579AFA1}" type="slidenum">
              <a:rPr lang="en-IN" smtClean="0"/>
              <a:t>‹#›</a:t>
            </a:fld>
            <a:endParaRPr lang="en-IN"/>
          </a:p>
        </p:txBody>
      </p:sp>
    </p:spTree>
    <p:extLst>
      <p:ext uri="{BB962C8B-B14F-4D97-AF65-F5344CB8AC3E}">
        <p14:creationId xmlns:p14="http://schemas.microsoft.com/office/powerpoint/2010/main" val="3181309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D1D401-3F0D-43E5-AD16-06ED8579AFA1}" type="slidenum">
              <a:rPr lang="en-IN" smtClean="0"/>
              <a:t>7</a:t>
            </a:fld>
            <a:endParaRPr lang="en-IN"/>
          </a:p>
        </p:txBody>
      </p:sp>
    </p:spTree>
    <p:extLst>
      <p:ext uri="{BB962C8B-B14F-4D97-AF65-F5344CB8AC3E}">
        <p14:creationId xmlns:p14="http://schemas.microsoft.com/office/powerpoint/2010/main" val="3309663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68110-9BFC-8353-737F-296C020915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356A54-9A18-C48A-4EF6-3DB37C81F9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D2EEC8-0D02-4FB2-A569-C7E0EBA0EF95}"/>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5" name="Footer Placeholder 4">
            <a:extLst>
              <a:ext uri="{FF2B5EF4-FFF2-40B4-BE49-F238E27FC236}">
                <a16:creationId xmlns:a16="http://schemas.microsoft.com/office/drawing/2014/main" id="{B898CB87-09B6-F6F0-2435-DA405C6E1B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2C17D0-5AF6-91E6-ACE1-7C4B0D6BE436}"/>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28415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EA62-F68C-0583-DF8A-EBE336C446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94F272-C793-FD44-FB9C-C348BD092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156ED0-DCD2-A306-6D7A-1DDB9494D3DF}"/>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5" name="Footer Placeholder 4">
            <a:extLst>
              <a:ext uri="{FF2B5EF4-FFF2-40B4-BE49-F238E27FC236}">
                <a16:creationId xmlns:a16="http://schemas.microsoft.com/office/drawing/2014/main" id="{1219A319-23DA-2CCC-E404-B032CC32E1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9CDC75-A281-D278-0BF1-D8D3FB26C01A}"/>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988212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6D97-77F4-0D4D-3CA1-177F2F76E5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687720-1E13-78E8-9EA4-F752588E63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1BFA42-61BE-CEA9-3B6B-CBC322DAF9AC}"/>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5" name="Footer Placeholder 4">
            <a:extLst>
              <a:ext uri="{FF2B5EF4-FFF2-40B4-BE49-F238E27FC236}">
                <a16:creationId xmlns:a16="http://schemas.microsoft.com/office/drawing/2014/main" id="{03F60165-7B8E-A89A-F902-55F3230C77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2BEE44-6870-13D0-CAD9-3D4AE155642D}"/>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1725096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BCEB4-5C24-7F34-CA7A-3623D2423D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9A581D-E55F-982B-4FB7-C9F9925921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B68AED-37D6-B463-E8A8-D19FD2205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F6ECA1-EE3D-142F-25B3-D89F758AA8AD}"/>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6" name="Footer Placeholder 5">
            <a:extLst>
              <a:ext uri="{FF2B5EF4-FFF2-40B4-BE49-F238E27FC236}">
                <a16:creationId xmlns:a16="http://schemas.microsoft.com/office/drawing/2014/main" id="{E89B13C7-F413-C5C5-3454-C87BB8AB7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6C8ED8-6F4B-145F-8BE6-046C93665F2D}"/>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2425158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AF0A-36AA-557D-3347-CE475E2D20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5D7207-AA97-14AD-3268-77D1D1286B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509A3C-35E2-B5A7-7821-A2EADAEF1D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37BEB9-AF4C-8F01-1CBC-4FA21DEABC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B33807-F181-3845-8620-4F9EA6618D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B47EDA-C664-00C2-F8AE-3856AF7EE1CB}"/>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8" name="Footer Placeholder 7">
            <a:extLst>
              <a:ext uri="{FF2B5EF4-FFF2-40B4-BE49-F238E27FC236}">
                <a16:creationId xmlns:a16="http://schemas.microsoft.com/office/drawing/2014/main" id="{5C64B2B2-3C82-76FD-7FA5-D766FFFA67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7E32E6-8496-5C6C-C487-199A8EF9750E}"/>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149276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622A4-F521-DAB3-E2D6-A1F106D902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59C79B-4353-F2AC-6ADD-28ADFE2D0F65}"/>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4" name="Footer Placeholder 3">
            <a:extLst>
              <a:ext uri="{FF2B5EF4-FFF2-40B4-BE49-F238E27FC236}">
                <a16:creationId xmlns:a16="http://schemas.microsoft.com/office/drawing/2014/main" id="{0D7C060B-2E7A-AEF1-39E7-66BA910FE5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36F401-E161-DBCF-CCCD-010437C46545}"/>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261573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87E56-B7D3-D74C-3F67-856DC9ACA9A7}"/>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3" name="Footer Placeholder 2">
            <a:extLst>
              <a:ext uri="{FF2B5EF4-FFF2-40B4-BE49-F238E27FC236}">
                <a16:creationId xmlns:a16="http://schemas.microsoft.com/office/drawing/2014/main" id="{0712D916-6567-1A15-9B60-A3F28C7F62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BC8D0F-EBB9-DA81-B82E-C535299FD2E9}"/>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2711129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20A2-6819-9EE1-B0F1-8277194F65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3D1586-7F72-461B-D044-DEE8D67EB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BA86AE-85FC-816A-5F17-74BA7CDA1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75C7CB-F86C-64BB-29E0-F763F0C518FB}"/>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6" name="Footer Placeholder 5">
            <a:extLst>
              <a:ext uri="{FF2B5EF4-FFF2-40B4-BE49-F238E27FC236}">
                <a16:creationId xmlns:a16="http://schemas.microsoft.com/office/drawing/2014/main" id="{CECE1C03-A933-860C-0CC4-966B331A3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9FF03B-4FFD-5CA0-C45D-A54D33FCB214}"/>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304642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1FA97-FB54-BC99-A6A3-42960B1A98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24CB40-FFEC-6C18-6701-93DD253DA6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8656E9-2311-64FF-92B8-5F49750CE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9DF2D1-01D6-80CF-B917-F56BE78B32B6}"/>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6" name="Footer Placeholder 5">
            <a:extLst>
              <a:ext uri="{FF2B5EF4-FFF2-40B4-BE49-F238E27FC236}">
                <a16:creationId xmlns:a16="http://schemas.microsoft.com/office/drawing/2014/main" id="{7204D3F4-C2C3-044A-630B-BC5AF1F78F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F5F4EF-28D8-8E68-73F6-EAABCFFBF7F0}"/>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17773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B7CB7-BB48-1B7B-8B68-6FED2F7904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A770A-9E5B-DA4C-2A24-F6FD9BF866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4EC55-D5C6-6558-CA0E-2D20448F592B}"/>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5" name="Footer Placeholder 4">
            <a:extLst>
              <a:ext uri="{FF2B5EF4-FFF2-40B4-BE49-F238E27FC236}">
                <a16:creationId xmlns:a16="http://schemas.microsoft.com/office/drawing/2014/main" id="{402D2DDD-EB75-AA03-8855-AAC39F82A7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7D8A47-A2E3-F8F2-A05A-C814D8D057F0}"/>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2976854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8CE89D-08E3-B901-C058-E782031B6D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72DDB8-C34B-FDEF-A2F8-4489796BA0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72A626-519A-1F08-D581-2B9D4E87EF03}"/>
              </a:ext>
            </a:extLst>
          </p:cNvPr>
          <p:cNvSpPr>
            <a:spLocks noGrp="1"/>
          </p:cNvSpPr>
          <p:nvPr>
            <p:ph type="dt" sz="half" idx="10"/>
          </p:nvPr>
        </p:nvSpPr>
        <p:spPr/>
        <p:txBody>
          <a:bodyPr/>
          <a:lstStyle/>
          <a:p>
            <a:fld id="{91E18C93-0E2B-471C-8F77-195696A0492A}" type="datetimeFigureOut">
              <a:rPr lang="en-IN" smtClean="0"/>
              <a:t>16-10-2025</a:t>
            </a:fld>
            <a:endParaRPr lang="en-IN"/>
          </a:p>
        </p:txBody>
      </p:sp>
      <p:sp>
        <p:nvSpPr>
          <p:cNvPr id="5" name="Footer Placeholder 4">
            <a:extLst>
              <a:ext uri="{FF2B5EF4-FFF2-40B4-BE49-F238E27FC236}">
                <a16:creationId xmlns:a16="http://schemas.microsoft.com/office/drawing/2014/main" id="{73CBBBD9-B429-0FDD-DC8E-5DA7D2C3AC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33393F-90F5-DC24-AB35-DA3735481ED8}"/>
              </a:ext>
            </a:extLst>
          </p:cNvPr>
          <p:cNvSpPr>
            <a:spLocks noGrp="1"/>
          </p:cNvSpPr>
          <p:nvPr>
            <p:ph type="sldNum" sz="quarter" idx="12"/>
          </p:nvPr>
        </p:nvSpPr>
        <p:spPr/>
        <p:txBody>
          <a:bodyPr/>
          <a:lstStyle/>
          <a:p>
            <a:fld id="{6794BC2E-DA64-491A-8653-BCC8A07E1ABA}" type="slidenum">
              <a:rPr lang="en-IN" smtClean="0"/>
              <a:t>‹#›</a:t>
            </a:fld>
            <a:endParaRPr lang="en-IN"/>
          </a:p>
        </p:txBody>
      </p:sp>
    </p:spTree>
    <p:extLst>
      <p:ext uri="{BB962C8B-B14F-4D97-AF65-F5344CB8AC3E}">
        <p14:creationId xmlns:p14="http://schemas.microsoft.com/office/powerpoint/2010/main" val="3102919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6902A5-C4EC-FB7A-78B4-095C61592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D7314F-36FC-E4E5-E924-8A042F89D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82307F-77A3-44C8-5797-5B1DD2F9C6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E18C93-0E2B-471C-8F77-195696A0492A}" type="datetimeFigureOut">
              <a:rPr lang="en-IN" smtClean="0"/>
              <a:t>16-10-2025</a:t>
            </a:fld>
            <a:endParaRPr lang="en-IN"/>
          </a:p>
        </p:txBody>
      </p:sp>
      <p:sp>
        <p:nvSpPr>
          <p:cNvPr id="5" name="Footer Placeholder 4">
            <a:extLst>
              <a:ext uri="{FF2B5EF4-FFF2-40B4-BE49-F238E27FC236}">
                <a16:creationId xmlns:a16="http://schemas.microsoft.com/office/drawing/2014/main" id="{43F814F9-0BF5-16DC-0873-C544C20BE3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57B28A-C61D-3BD5-63A8-D5A819DD33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94BC2E-DA64-491A-8653-BCC8A07E1ABA}" type="slidenum">
              <a:rPr lang="en-IN" smtClean="0"/>
              <a:t>‹#›</a:t>
            </a:fld>
            <a:endParaRPr lang="en-IN"/>
          </a:p>
        </p:txBody>
      </p:sp>
    </p:spTree>
    <p:extLst>
      <p:ext uri="{BB962C8B-B14F-4D97-AF65-F5344CB8AC3E}">
        <p14:creationId xmlns:p14="http://schemas.microsoft.com/office/powerpoint/2010/main" val="281761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0BA1D3-DC21-F5FE-AE3C-C1E4632A8CF3}"/>
              </a:ext>
            </a:extLst>
          </p:cNvPr>
          <p:cNvSpPr>
            <a:spLocks noGrp="1"/>
          </p:cNvSpPr>
          <p:nvPr>
            <p:ph type="sldNum" sz="quarter" idx="12"/>
          </p:nvPr>
        </p:nvSpPr>
        <p:spPr>
          <a:prstGeom prst="rect">
            <a:avLst/>
          </a:prstGeom>
        </p:spPr>
        <p:txBody>
          <a:bodyPr/>
          <a:lstStyle/>
          <a:p>
            <a:fld id="{D5C2FC8B-A5F0-42E2-9117-1BA388FDCD4E}" type="slidenum">
              <a:rPr lang="en-IN" smtClean="0"/>
              <a:pPr/>
              <a:t>1</a:t>
            </a:fld>
            <a:endParaRPr lang="en-IN"/>
          </a:p>
        </p:txBody>
      </p:sp>
      <p:sp>
        <p:nvSpPr>
          <p:cNvPr id="7" name="TextBox 6">
            <a:extLst>
              <a:ext uri="{FF2B5EF4-FFF2-40B4-BE49-F238E27FC236}">
                <a16:creationId xmlns:a16="http://schemas.microsoft.com/office/drawing/2014/main" id="{6CE9EF60-59E0-B748-4DB6-5697C16EF454}"/>
              </a:ext>
            </a:extLst>
          </p:cNvPr>
          <p:cNvSpPr txBox="1"/>
          <p:nvPr/>
        </p:nvSpPr>
        <p:spPr>
          <a:xfrm>
            <a:off x="1543812" y="618247"/>
            <a:ext cx="9104376" cy="1631216"/>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VISVESVARAYA TECHNOLOGICAL UNIVERSITY, </a:t>
            </a:r>
          </a:p>
          <a:p>
            <a:pPr algn="ctr"/>
            <a:r>
              <a:rPr lang="en-IN" sz="2400" b="1" dirty="0">
                <a:latin typeface="Times New Roman" panose="02020603050405020304" pitchFamily="18" charset="0"/>
                <a:cs typeface="Times New Roman" panose="02020603050405020304" pitchFamily="18" charset="0"/>
              </a:rPr>
              <a:t>BELGAVI</a:t>
            </a:r>
          </a:p>
          <a:p>
            <a:pPr algn="ctr"/>
            <a:endParaRPr lang="en-IN" sz="2400" b="1" dirty="0">
              <a:latin typeface="Times New Roman" panose="02020603050405020304" pitchFamily="18" charset="0"/>
              <a:cs typeface="Times New Roman" panose="02020603050405020304" pitchFamily="18" charset="0"/>
            </a:endParaRPr>
          </a:p>
          <a:p>
            <a:pPr algn="ctr"/>
            <a:r>
              <a:rPr lang="en-IN" sz="2800" b="1" dirty="0">
                <a:solidFill>
                  <a:schemeClr val="accent1"/>
                </a:solidFill>
                <a:latin typeface="Times New Roman" panose="02020603050405020304" pitchFamily="18" charset="0"/>
                <a:cs typeface="Times New Roman" panose="02020603050405020304" pitchFamily="18" charset="0"/>
              </a:rPr>
              <a:t>VIVEKANADA INSTITUTE OF TECHNOLOGY</a:t>
            </a:r>
          </a:p>
        </p:txBody>
      </p:sp>
      <p:pic>
        <p:nvPicPr>
          <p:cNvPr id="1026" name="Picture 2" descr="VTU-Logo-250×250 – SJB INSTITUTE OF ...">
            <a:extLst>
              <a:ext uri="{FF2B5EF4-FFF2-40B4-BE49-F238E27FC236}">
                <a16:creationId xmlns:a16="http://schemas.microsoft.com/office/drawing/2014/main" id="{AEB076F0-2516-3A99-5F21-B5C869E94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4499" y="608471"/>
            <a:ext cx="1484306" cy="148430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1F310E7-4533-B93F-344F-3ACBD7B39052}"/>
              </a:ext>
            </a:extLst>
          </p:cNvPr>
          <p:cNvSpPr txBox="1"/>
          <p:nvPr/>
        </p:nvSpPr>
        <p:spPr>
          <a:xfrm>
            <a:off x="1889972" y="2590511"/>
            <a:ext cx="8572500" cy="1200329"/>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DEPARTMENT OF COMPUTER SCIENCE AND ENGINEERING</a:t>
            </a:r>
          </a:p>
          <a:p>
            <a:pPr algn="ctr"/>
            <a:r>
              <a:rPr lang="en-IN" sz="2000" b="1" dirty="0">
                <a:latin typeface="Times New Roman" panose="02020603050405020304" pitchFamily="18" charset="0"/>
                <a:cs typeface="Times New Roman" panose="02020603050405020304" pitchFamily="18" charset="0"/>
              </a:rPr>
              <a:t>Mini Project </a:t>
            </a:r>
          </a:p>
          <a:p>
            <a:pPr algn="ctr"/>
            <a:r>
              <a:rPr lang="en-US" sz="3200" b="1" dirty="0">
                <a:solidFill>
                  <a:srgbClr val="FF0000"/>
                </a:solidFill>
                <a:latin typeface="Times New Roman" panose="02020603050405020304" pitchFamily="18" charset="0"/>
                <a:cs typeface="Times New Roman" panose="02020603050405020304" pitchFamily="18" charset="0"/>
              </a:rPr>
              <a:t>"</a:t>
            </a:r>
            <a:r>
              <a:rPr lang="en-US" sz="3200" b="1" dirty="0">
                <a:latin typeface="Times New Roman" panose="02020603050405020304" pitchFamily="18" charset="0"/>
                <a:cs typeface="Times New Roman" panose="02020603050405020304" pitchFamily="18" charset="0"/>
              </a:rPr>
              <a:t> </a:t>
            </a:r>
            <a:r>
              <a:rPr lang="en-US" sz="3200" b="1" dirty="0">
                <a:solidFill>
                  <a:srgbClr val="FF0000"/>
                </a:solidFill>
                <a:latin typeface="Times New Roman" panose="02020603050405020304" pitchFamily="18" charset="0"/>
                <a:cs typeface="Times New Roman" panose="02020603050405020304" pitchFamily="18" charset="0"/>
              </a:rPr>
              <a:t>Event Management System "</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descr="A logo of a person&#10;&#10;Description automatically generated">
            <a:extLst>
              <a:ext uri="{FF2B5EF4-FFF2-40B4-BE49-F238E27FC236}">
                <a16:creationId xmlns:a16="http://schemas.microsoft.com/office/drawing/2014/main" id="{9E45D0D5-93E2-1094-BF53-612032F03A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795" y="600884"/>
            <a:ext cx="1245177" cy="1171931"/>
          </a:xfrm>
          <a:prstGeom prst="rect">
            <a:avLst/>
          </a:prstGeom>
        </p:spPr>
      </p:pic>
      <p:sp>
        <p:nvSpPr>
          <p:cNvPr id="5" name="TextBox 4">
            <a:extLst>
              <a:ext uri="{FF2B5EF4-FFF2-40B4-BE49-F238E27FC236}">
                <a16:creationId xmlns:a16="http://schemas.microsoft.com/office/drawing/2014/main" id="{2B23DEFA-C720-9FB3-727D-F6FEC9DD5EFA}"/>
              </a:ext>
            </a:extLst>
          </p:cNvPr>
          <p:cNvSpPr txBox="1"/>
          <p:nvPr/>
        </p:nvSpPr>
        <p:spPr>
          <a:xfrm>
            <a:off x="1192082" y="4608537"/>
            <a:ext cx="4206586" cy="1938992"/>
          </a:xfrm>
          <a:prstGeom prst="rect">
            <a:avLst/>
          </a:prstGeom>
          <a:noFill/>
        </p:spPr>
        <p:txBody>
          <a:bodyPr wrap="square"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Submitted By:</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Nithin Raj (1VK2)</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 S Kirana (1VK24CS403)</a:t>
            </a:r>
          </a:p>
          <a:p>
            <a:endParaRPr lang="en-IN"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FB01327-09F3-E4A0-9E0E-C9B164391F0D}"/>
              </a:ext>
            </a:extLst>
          </p:cNvPr>
          <p:cNvSpPr txBox="1"/>
          <p:nvPr/>
        </p:nvSpPr>
        <p:spPr>
          <a:xfrm>
            <a:off x="7937257" y="4628763"/>
            <a:ext cx="3676263" cy="1569660"/>
          </a:xfrm>
          <a:prstGeom prst="rect">
            <a:avLst/>
          </a:prstGeom>
          <a:noFill/>
        </p:spPr>
        <p:txBody>
          <a:bodyPr wrap="none" rtlCol="0">
            <a:spAutoFit/>
          </a:bodyPr>
          <a:lstStyle/>
          <a:p>
            <a:pPr>
              <a:lnSpc>
                <a:spcPct val="150000"/>
              </a:lnSpc>
            </a:pPr>
            <a:r>
              <a:rPr lang="en-US" sz="2800" b="1" dirty="0">
                <a:latin typeface="Times New Roman" panose="02020603050405020304" pitchFamily="18" charset="0"/>
                <a:ea typeface="Times New Roman" panose="02020603050405020304" pitchFamily="18" charset="0"/>
              </a:rPr>
              <a:t>Under</a:t>
            </a:r>
            <a:r>
              <a:rPr lang="en-US" sz="2800" b="1" spc="-25" dirty="0">
                <a:latin typeface="Times New Roman" panose="02020603050405020304" pitchFamily="18" charset="0"/>
                <a:ea typeface="Times New Roman" panose="02020603050405020304" pitchFamily="18" charset="0"/>
              </a:rPr>
              <a:t> </a:t>
            </a:r>
            <a:r>
              <a:rPr lang="en-US" sz="2800" b="1" dirty="0">
                <a:latin typeface="Times New Roman" panose="02020603050405020304" pitchFamily="18" charset="0"/>
                <a:ea typeface="Times New Roman" panose="02020603050405020304" pitchFamily="18" charset="0"/>
              </a:rPr>
              <a:t>the Guidance</a:t>
            </a:r>
            <a:r>
              <a:rPr lang="en-US" sz="2800" b="1" spc="-10" dirty="0">
                <a:latin typeface="Times New Roman" panose="02020603050405020304" pitchFamily="18" charset="0"/>
                <a:ea typeface="Times New Roman" panose="02020603050405020304" pitchFamily="18" charset="0"/>
              </a:rPr>
              <a:t> </a:t>
            </a:r>
            <a:r>
              <a:rPr lang="en-US" sz="2800" b="1" dirty="0">
                <a:latin typeface="Times New Roman" panose="02020603050405020304" pitchFamily="18" charset="0"/>
                <a:ea typeface="Times New Roman" panose="02020603050405020304" pitchFamily="18" charset="0"/>
              </a:rPr>
              <a:t>of</a:t>
            </a:r>
          </a:p>
          <a:p>
            <a:pPr>
              <a:lnSpc>
                <a:spcPct val="150000"/>
              </a:lnSpc>
            </a:pPr>
            <a:r>
              <a:rPr lang="en-US" b="1" dirty="0">
                <a:latin typeface="Times New Roman" panose="02020603050405020304" pitchFamily="18"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rPr>
              <a:t>Sijin Sir</a:t>
            </a:r>
            <a:endParaRPr lang="en-IN" sz="2400" dirty="0">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4851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BA14-6787-16A9-ED31-6A275B0343C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CAC92B1-C356-E78E-DCF5-4FC417AF68D3}"/>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2</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4C2BE61-83BA-BEBC-B6C3-0AB051DEDB58}"/>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9BD8D31-E489-853B-BEE8-7FF02911FA44}"/>
              </a:ext>
            </a:extLst>
          </p:cNvPr>
          <p:cNvSpPr txBox="1"/>
          <p:nvPr/>
        </p:nvSpPr>
        <p:spPr>
          <a:xfrm>
            <a:off x="925461" y="6387786"/>
            <a:ext cx="10341077" cy="307777"/>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 </a:t>
            </a:r>
          </a:p>
        </p:txBody>
      </p:sp>
      <p:pic>
        <p:nvPicPr>
          <p:cNvPr id="12" name="Picture 11" descr="A logo of a person&#10;&#10;Description automatically generated">
            <a:extLst>
              <a:ext uri="{FF2B5EF4-FFF2-40B4-BE49-F238E27FC236}">
                <a16:creationId xmlns:a16="http://schemas.microsoft.com/office/drawing/2014/main" id="{D228C6D8-FAC1-171D-5B57-B627F02CDE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54879CFB-E957-B35A-8C4A-460CCA49F3A7}"/>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F829748-0E24-47B3-2187-BABE2BC6C0DC}"/>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9ABF15F-E6B1-B637-2D95-E7AF51A69D4B}"/>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4" name="TextBox 3">
            <a:extLst>
              <a:ext uri="{FF2B5EF4-FFF2-40B4-BE49-F238E27FC236}">
                <a16:creationId xmlns:a16="http://schemas.microsoft.com/office/drawing/2014/main" id="{4288E81B-9D32-2634-1AE4-5C4B9929FBB2}"/>
              </a:ext>
            </a:extLst>
          </p:cNvPr>
          <p:cNvSpPr txBox="1"/>
          <p:nvPr/>
        </p:nvSpPr>
        <p:spPr>
          <a:xfrm>
            <a:off x="3844479" y="1257329"/>
            <a:ext cx="3303572" cy="646331"/>
          </a:xfrm>
          <a:prstGeom prst="rect">
            <a:avLst/>
          </a:prstGeom>
          <a:noFill/>
        </p:spPr>
        <p:txBody>
          <a:bodyPr wrap="square" lIns="91440" tIns="45720" rIns="91440" bIns="45720" anchor="t">
            <a:spAutoFit/>
          </a:bodyPr>
          <a:lstStyle/>
          <a:p>
            <a:pPr algn="ctr"/>
            <a:r>
              <a:rPr lang="en-IN" sz="3600" b="1" u="sng" dirty="0">
                <a:latin typeface="Times New Roman" panose="02020603050405020304" pitchFamily="18" charset="0"/>
                <a:cs typeface="Times New Roman" panose="02020603050405020304" pitchFamily="18" charset="0"/>
              </a:rPr>
              <a:t>CONTENTS</a:t>
            </a:r>
          </a:p>
        </p:txBody>
      </p:sp>
      <p:sp>
        <p:nvSpPr>
          <p:cNvPr id="5" name="Rectangle 1">
            <a:extLst>
              <a:ext uri="{FF2B5EF4-FFF2-40B4-BE49-F238E27FC236}">
                <a16:creationId xmlns:a16="http://schemas.microsoft.com/office/drawing/2014/main" id="{4B86DC42-1D8D-8F5C-C9F4-BBF4C5FA0878}"/>
              </a:ext>
            </a:extLst>
          </p:cNvPr>
          <p:cNvSpPr>
            <a:spLocks noChangeArrowheads="1"/>
          </p:cNvSpPr>
          <p:nvPr/>
        </p:nvSpPr>
        <p:spPr bwMode="auto">
          <a:xfrm>
            <a:off x="1998055" y="2009564"/>
            <a:ext cx="6455697" cy="399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2400" dirty="0">
                <a:latin typeface="Times New Roman" panose="02020603050405020304" pitchFamily="18" charset="0"/>
                <a:cs typeface="Times New Roman" panose="02020603050405020304" pitchFamily="18" charset="0"/>
              </a:rPr>
              <a:t>ABSTRACT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i="0" strike="noStrike" cap="none" normalizeH="0" baseline="0" dirty="0">
                <a:ln>
                  <a:noFill/>
                </a:ln>
                <a:solidFill>
                  <a:schemeClr val="tx1"/>
                </a:solidFill>
                <a:latin typeface="Times New Roman" panose="02020603050405020304" pitchFamily="18" charset="0"/>
                <a:cs typeface="Times New Roman" panose="02020603050405020304" pitchFamily="18" charset="0"/>
              </a:rPr>
              <a:t>INTRODUCTION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2400" dirty="0">
                <a:latin typeface="Times New Roman" panose="02020603050405020304" pitchFamily="18" charset="0"/>
                <a:cs typeface="Times New Roman" panose="02020603050405020304" pitchFamily="18" charset="0"/>
              </a:rPr>
              <a:t>OBJECTIVES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2400" dirty="0">
                <a:latin typeface="Times New Roman" panose="02020603050405020304" pitchFamily="18" charset="0"/>
                <a:cs typeface="Times New Roman" panose="02020603050405020304" pitchFamily="18" charset="0"/>
              </a:rPr>
              <a:t>PROPOSED SYSTEM</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2400" dirty="0">
                <a:latin typeface="Times New Roman" panose="02020603050405020304" pitchFamily="18" charset="0"/>
                <a:cs typeface="Times New Roman" panose="02020603050405020304" pitchFamily="18" charset="0"/>
              </a:rPr>
              <a:t>METHODOLOGY</a:t>
            </a:r>
          </a:p>
          <a:p>
            <a:pPr marL="342900" indent="-342900" algn="just" eaLnBrk="0" fontAlgn="base" hangingPunct="0">
              <a:lnSpc>
                <a:spcPct val="150000"/>
              </a:lnSpc>
              <a:spcBef>
                <a:spcPct val="0"/>
              </a:spcBef>
              <a:spcAft>
                <a:spcPct val="0"/>
              </a:spcAf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EXPECTED OUTCOMES</a:t>
            </a:r>
            <a:endParaRPr lang="en-US" altLang="en-US" sz="2400"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24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763695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8A3AE-9AA9-DD17-39A6-AB0D5355830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FEDD2D0-E5D9-2917-928C-4908FDE5AD12}"/>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3</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79CCD70-46E2-2485-9AB8-AB73AF6E4FB2}"/>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D282D07-7464-415F-1C8E-19474BDF9981}"/>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FB65B1C0-DC99-DCF3-5AB3-2907871E0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B61B525D-A62C-8B53-77F3-6B6AC9567D4F}"/>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588EF6-FBAF-4309-CEA0-77EF413F109C}"/>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2E2855C-AB91-1856-CD5E-49DDEBD2A2CF}"/>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A15FB355-1721-52B2-B6F2-F421B3DF7D1B}"/>
              </a:ext>
            </a:extLst>
          </p:cNvPr>
          <p:cNvSpPr txBox="1"/>
          <p:nvPr/>
        </p:nvSpPr>
        <p:spPr>
          <a:xfrm>
            <a:off x="3811828" y="1285459"/>
            <a:ext cx="3339310" cy="646331"/>
          </a:xfrm>
          <a:prstGeom prst="rect">
            <a:avLst/>
          </a:prstGeom>
          <a:noFill/>
        </p:spPr>
        <p:txBody>
          <a:bodyPr wrap="square">
            <a:spAutoFit/>
          </a:bodyPr>
          <a:lstStyle/>
          <a:p>
            <a:pPr marR="0" lvl="0" algn="ctr" defTabSz="914400" rtl="0" eaLnBrk="0" fontAlgn="base" latinLnBrk="0" hangingPunct="0">
              <a:lnSpc>
                <a:spcPct val="100000"/>
              </a:lnSpc>
              <a:spcBef>
                <a:spcPct val="0"/>
              </a:spcBef>
              <a:spcAft>
                <a:spcPct val="0"/>
              </a:spcAft>
              <a:buClrTx/>
              <a:buSzTx/>
              <a:tabLst/>
            </a:pPr>
            <a:r>
              <a:rPr lang="en-US" altLang="en-US" sz="3600" b="1" u="sng" dirty="0">
                <a:latin typeface="Times New Roman" panose="02020603050405020304" pitchFamily="18" charset="0"/>
                <a:cs typeface="Times New Roman" panose="02020603050405020304" pitchFamily="18" charset="0"/>
              </a:rPr>
              <a:t>ABSTRACT</a:t>
            </a:r>
            <a:endParaRPr kumimoji="0" lang="en-US" altLang="en-US" sz="3600" b="1" i="0" u="sng" strike="noStrike" cap="none" normalizeH="0" baseline="0" dirty="0">
              <a:ln>
                <a:noFill/>
              </a:ln>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3148EAA-1F6B-3165-D1B2-FD0F61B658C0}"/>
              </a:ext>
            </a:extLst>
          </p:cNvPr>
          <p:cNvSpPr txBox="1"/>
          <p:nvPr/>
        </p:nvSpPr>
        <p:spPr>
          <a:xfrm>
            <a:off x="716706" y="1947508"/>
            <a:ext cx="9904240" cy="4191981"/>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Event management is a complex process that involves coordinating various tasks such as planning, organizing, budgeting, and executing events like weddings, conferences, and seminars. Traditionally, these tasks are managed manually, which often leads to inefficiency, delays, and communication gaps.</a:t>
            </a:r>
          </a:p>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Event Management System Website</a:t>
            </a:r>
            <a:r>
              <a:rPr lang="en-US" sz="2000" dirty="0">
                <a:latin typeface="Times New Roman" panose="02020603050405020304" pitchFamily="18" charset="0"/>
                <a:cs typeface="Times New Roman" panose="02020603050405020304" pitchFamily="18" charset="0"/>
              </a:rPr>
              <a:t> is a web-based application designed to automate and simplify the entire event planning process. It enables users to register, create, and manage events conveniently through a centralized online platform. The system includes modules for user management, event scheduling, vendor coordination, and payment tracking, ensuring smooth workflow and transparency.</a:t>
            </a:r>
          </a:p>
        </p:txBody>
      </p:sp>
    </p:spTree>
    <p:extLst>
      <p:ext uri="{BB962C8B-B14F-4D97-AF65-F5344CB8AC3E}">
        <p14:creationId xmlns:p14="http://schemas.microsoft.com/office/powerpoint/2010/main" val="344035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B09FD-1E2D-7406-1F18-F6710DF8B39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93F25F5-9CAF-FD2B-DA95-25E1751DDF93}"/>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4</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81C7F33-B3CA-AA85-2D0F-E5A679927B49}"/>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9512ED-34F8-58EE-79D4-1C5923B9F0B3}"/>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E7507159-0EF7-6E5A-FB26-9EA05D312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5BAA392D-587A-4652-F987-3B04F78E0751}"/>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FF300BB-A046-283B-B615-5EABF0E80370}"/>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895D575-742D-88D8-2E67-697E5C204D73}"/>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FF967B68-B481-1510-04FA-760C965FC699}"/>
              </a:ext>
            </a:extLst>
          </p:cNvPr>
          <p:cNvSpPr txBox="1"/>
          <p:nvPr/>
        </p:nvSpPr>
        <p:spPr>
          <a:xfrm>
            <a:off x="3703671" y="1332301"/>
            <a:ext cx="4112973" cy="646331"/>
          </a:xfrm>
          <a:prstGeom prst="rect">
            <a:avLst/>
          </a:prstGeom>
          <a:noFill/>
        </p:spPr>
        <p:txBody>
          <a:bodyPr wrap="square">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3600" b="1" i="0" u="sng" strike="noStrike" cap="none" normalizeH="0" baseline="0" dirty="0">
                <a:ln>
                  <a:noFill/>
                </a:ln>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B514CF56-0B9C-C651-41F1-16FE3FCE6407}"/>
              </a:ext>
            </a:extLst>
          </p:cNvPr>
          <p:cNvSpPr txBox="1"/>
          <p:nvPr/>
        </p:nvSpPr>
        <p:spPr>
          <a:xfrm>
            <a:off x="1060304" y="2243986"/>
            <a:ext cx="9904240" cy="334995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Events involve many tasks such as vendor coordination, guest invitations, budgeting, and scheduling. Manually managing these tasks is error-prone and time-consuming.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Event management Website provides a centralized, online platform to plan, organize, and manage wedding tasks simplifying vendor hiring, venue selection, guest tracking, budgeting, and task scheduling all in one place.</a:t>
            </a:r>
          </a:p>
        </p:txBody>
      </p:sp>
    </p:spTree>
    <p:extLst>
      <p:ext uri="{BB962C8B-B14F-4D97-AF65-F5344CB8AC3E}">
        <p14:creationId xmlns:p14="http://schemas.microsoft.com/office/powerpoint/2010/main" val="508413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77A2-2AD9-C734-513F-B51A0CEB242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41950F-6E4D-BF64-8F9F-0E987B2DE772}"/>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5</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3298DAE-B624-20FF-A59E-4A8FACA853BE}"/>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5A97D26-434E-51D5-BA9A-72A46B9EFB50}"/>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01B30F14-CD86-4702-5406-A3535D286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6A8C924B-7EB7-2D02-C7FA-1817EFABFC89}"/>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4C983FC-C16C-974D-B819-8BB32D44490D}"/>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DDBCB57-0983-0955-6D51-60EEF9BAF5FF}"/>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F4F2C26B-2FA8-03D3-89EA-CF49766F7199}"/>
              </a:ext>
            </a:extLst>
          </p:cNvPr>
          <p:cNvSpPr txBox="1"/>
          <p:nvPr/>
        </p:nvSpPr>
        <p:spPr>
          <a:xfrm>
            <a:off x="3418537" y="1482570"/>
            <a:ext cx="3339310" cy="646331"/>
          </a:xfrm>
          <a:prstGeom prst="rect">
            <a:avLst/>
          </a:prstGeom>
          <a:noFill/>
        </p:spPr>
        <p:txBody>
          <a:bodyPr wrap="square">
            <a:spAutoFit/>
          </a:bodyPr>
          <a:lstStyle/>
          <a:p>
            <a:pPr marR="0" lvl="0" algn="ctr" defTabSz="914400" rtl="0" eaLnBrk="0" fontAlgn="base" latinLnBrk="0" hangingPunct="0">
              <a:lnSpc>
                <a:spcPct val="100000"/>
              </a:lnSpc>
              <a:spcBef>
                <a:spcPct val="0"/>
              </a:spcBef>
              <a:spcAft>
                <a:spcPct val="0"/>
              </a:spcAft>
              <a:buClrTx/>
              <a:buSzTx/>
              <a:tabLst/>
            </a:pPr>
            <a:r>
              <a:rPr lang="en-US" altLang="en-US" sz="3600" b="1" u="sng" dirty="0">
                <a:latin typeface="Times New Roman" panose="02020603050405020304" pitchFamily="18" charset="0"/>
                <a:cs typeface="Times New Roman" panose="02020603050405020304" pitchFamily="18" charset="0"/>
              </a:rPr>
              <a:t>OBJECTIVES</a:t>
            </a:r>
            <a:endParaRPr kumimoji="0" lang="en-US" altLang="en-US" sz="3600" b="1" i="0" u="sng" strike="noStrike" cap="none" normalizeH="0" baseline="0" dirty="0">
              <a:ln>
                <a:noFill/>
              </a:ln>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477F612-499F-9D2C-B751-178966264DED}"/>
              </a:ext>
            </a:extLst>
          </p:cNvPr>
          <p:cNvSpPr txBox="1"/>
          <p:nvPr/>
        </p:nvSpPr>
        <p:spPr>
          <a:xfrm>
            <a:off x="804664" y="2426683"/>
            <a:ext cx="10748237" cy="3246530"/>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 a user-friendly platform for couples to plan weddings online.</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 various wedding services into a single system.</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Enable secure communication between clients and vendors.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Manage guest lists, send invitations, and track RSVPs digitally.</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Offer budgeting tools and expense tracking.</a:t>
            </a:r>
          </a:p>
        </p:txBody>
      </p:sp>
    </p:spTree>
    <p:extLst>
      <p:ext uri="{BB962C8B-B14F-4D97-AF65-F5344CB8AC3E}">
        <p14:creationId xmlns:p14="http://schemas.microsoft.com/office/powerpoint/2010/main" val="3764706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F9BC-AECD-40DE-BB7C-2E3BFB4C933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41E8EA4-6865-768F-7896-F7708275A96B}"/>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6</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D515C22-181E-7ACB-6CD5-D2B236C18E1F}"/>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A8C5EEB-4B82-01FB-F1C8-EB3EA96DCEA3}"/>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DE0EA459-911A-060A-2227-081D8ACCA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EDB502D1-2FB1-258E-6700-29FCCF890F90}"/>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AADD8EC-1897-2E3C-E9EB-3590DDBD4FD0}"/>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3BBBF34-F296-A8E9-EBAA-1A770EA3B739}"/>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871522BE-4A92-EAAD-E7B2-6B98211A4891}"/>
              </a:ext>
            </a:extLst>
          </p:cNvPr>
          <p:cNvSpPr txBox="1"/>
          <p:nvPr/>
        </p:nvSpPr>
        <p:spPr>
          <a:xfrm>
            <a:off x="2630407" y="1361556"/>
            <a:ext cx="5422211" cy="646331"/>
          </a:xfrm>
          <a:prstGeom prst="rect">
            <a:avLst/>
          </a:prstGeom>
          <a:noFill/>
        </p:spPr>
        <p:txBody>
          <a:bodyPr wrap="square">
            <a:spAutoFit/>
          </a:bodyPr>
          <a:lstStyle/>
          <a:p>
            <a:pPr lvl="0" algn="ctr" eaLnBrk="0" fontAlgn="base" hangingPunct="0">
              <a:spcBef>
                <a:spcPct val="0"/>
              </a:spcBef>
              <a:spcAft>
                <a:spcPct val="0"/>
              </a:spcAft>
            </a:pPr>
            <a:r>
              <a:rPr lang="en-IN" sz="3600" b="1" u="sng" dirty="0">
                <a:latin typeface="Times New Roman" panose="02020603050405020304" pitchFamily="18" charset="0"/>
                <a:cs typeface="Times New Roman" panose="02020603050405020304" pitchFamily="18" charset="0"/>
              </a:rPr>
              <a:t>Proposed System</a:t>
            </a:r>
            <a:endParaRPr kumimoji="0" lang="en-US" altLang="en-US" sz="3600" i="0" u="sng" strike="noStrike" cap="none" normalizeH="0" baseline="0" dirty="0">
              <a:ln>
                <a:noFill/>
              </a:ln>
              <a:solidFill>
                <a:schemeClr val="tx1"/>
              </a:solidFill>
              <a:latin typeface="Bahnschrift" panose="020B0502040204020203" pitchFamily="34" charset="0"/>
              <a:cs typeface="Arial" panose="020B0604020202020204" pitchFamily="34" charset="0"/>
            </a:endParaRPr>
          </a:p>
        </p:txBody>
      </p:sp>
      <p:sp>
        <p:nvSpPr>
          <p:cNvPr id="5" name="TextBox 4">
            <a:extLst>
              <a:ext uri="{FF2B5EF4-FFF2-40B4-BE49-F238E27FC236}">
                <a16:creationId xmlns:a16="http://schemas.microsoft.com/office/drawing/2014/main" id="{D76AFD95-AAD6-6A1A-371A-B868CCE6AFA8}"/>
              </a:ext>
            </a:extLst>
          </p:cNvPr>
          <p:cNvSpPr txBox="1"/>
          <p:nvPr/>
        </p:nvSpPr>
        <p:spPr>
          <a:xfrm>
            <a:off x="1013252" y="2184656"/>
            <a:ext cx="9996419" cy="4536819"/>
          </a:xfrm>
          <a:prstGeom prst="rect">
            <a:avLst/>
          </a:prstGeom>
          <a:noFill/>
        </p:spPr>
        <p:txBody>
          <a:bodyPr wrap="square">
            <a:spAutoFit/>
          </a:bodyPr>
          <a:lstStyle/>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User Registration &amp; Login (for couples, vendors, guests)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Vendor Directory (venues, catering, decorators, photographers)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Booking &amp; Scheduling Module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Guest List &amp; Invitation Management</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Budget Planner &amp; Expense Tracker</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Task Checklist &amp; Event Timeline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Gallery / Portfolio Section for Vendors + Client Reference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Feedback &amp; Rating System</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Admin Panel for managing overall system</a:t>
            </a:r>
          </a:p>
          <a:p>
            <a:pPr marL="457200" indent="-457200" algn="just">
              <a:lnSpc>
                <a:spcPct val="150000"/>
              </a:lnSpc>
              <a:spcAft>
                <a:spcPts val="800"/>
              </a:spcAft>
              <a:buFont typeface="Arial" panose="020B0604020202020204" pitchFamily="34" charset="0"/>
              <a:buChar char="•"/>
            </a:pPr>
            <a:endParaRPr lang="en-IN" sz="2800" b="1"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76079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52A3B-CE07-8C71-DA0B-1146931E4E0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CAC07D5-96A3-9AC8-FF79-AFA40D26021B}"/>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7</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8CD74FD-E7F9-7541-4400-035253F64EB6}"/>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02533C3-AE52-BC4E-ADB6-0EC2F335234F}"/>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988656BF-BD6E-69C1-22E8-51C9E6A87D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7D40F63E-A94B-541E-EF84-B091969B4AB0}"/>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33BF37B-F331-EF1B-2E4C-DCA3B12A4AEF}"/>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5D222CB-5A26-6D90-8716-F56FEA166D34}"/>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6E18C261-19CF-30FD-790D-6D03104B4175}"/>
              </a:ext>
            </a:extLst>
          </p:cNvPr>
          <p:cNvSpPr txBox="1"/>
          <p:nvPr/>
        </p:nvSpPr>
        <p:spPr>
          <a:xfrm>
            <a:off x="3111593" y="1333854"/>
            <a:ext cx="4557569" cy="646331"/>
          </a:xfrm>
          <a:prstGeom prst="rect">
            <a:avLst/>
          </a:prstGeom>
          <a:noFill/>
        </p:spPr>
        <p:txBody>
          <a:bodyPr wrap="square">
            <a:spAutoFit/>
          </a:bodyPr>
          <a:lstStyle/>
          <a:p>
            <a:pPr lvl="0" algn="just" eaLnBrk="0" fontAlgn="base" hangingPunct="0">
              <a:spcBef>
                <a:spcPct val="0"/>
              </a:spcBef>
              <a:spcAft>
                <a:spcPct val="0"/>
              </a:spcAft>
            </a:pPr>
            <a:r>
              <a:rPr lang="en-US" altLang="en-US" sz="3600" b="1" u="sng" dirty="0">
                <a:latin typeface="Times New Roman" panose="02020603050405020304" pitchFamily="18" charset="0"/>
                <a:cs typeface="Times New Roman" panose="02020603050405020304" pitchFamily="18" charset="0"/>
              </a:rPr>
              <a:t>METHODOLOGY</a:t>
            </a:r>
          </a:p>
        </p:txBody>
      </p:sp>
      <p:sp>
        <p:nvSpPr>
          <p:cNvPr id="5" name="TextBox 4">
            <a:extLst>
              <a:ext uri="{FF2B5EF4-FFF2-40B4-BE49-F238E27FC236}">
                <a16:creationId xmlns:a16="http://schemas.microsoft.com/office/drawing/2014/main" id="{27392FB9-4BA1-F0B9-7F12-D20FA8BF0F0E}"/>
              </a:ext>
            </a:extLst>
          </p:cNvPr>
          <p:cNvSpPr txBox="1"/>
          <p:nvPr/>
        </p:nvSpPr>
        <p:spPr>
          <a:xfrm>
            <a:off x="1038532" y="2277616"/>
            <a:ext cx="9904239" cy="324653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Frontend: HTML5, CSS3, JavaScript (React)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Backend: PHP / Node.js </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Database: MySQL </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Hosting: Apache / Nginx</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Tools: Git, Bootstrap/Tailwind, Security features</a:t>
            </a:r>
          </a:p>
        </p:txBody>
      </p:sp>
    </p:spTree>
    <p:extLst>
      <p:ext uri="{BB962C8B-B14F-4D97-AF65-F5344CB8AC3E}">
        <p14:creationId xmlns:p14="http://schemas.microsoft.com/office/powerpoint/2010/main" val="2618669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A44F-2540-6D46-1798-33F103CFCAA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02AADE4-0025-E303-4C16-BA662BAC2567}"/>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8</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CBB4B97-5EBC-9A7E-18A0-ADE2CD1CFE03}"/>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3BA228D-C0F1-90FA-264E-F7B201AFB055}"/>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96C36B4E-0E35-1672-BEAF-00A615FD3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02F940D9-E696-DCD7-FF20-EEE5C45DFE47}"/>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FF601D8-4AA4-A74E-49C1-888518538C02}"/>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DF33E97-1E2E-1BB0-CCC4-3598B8DCE88B}"/>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29695923-EF9A-7945-DE3F-EE2C729F1E00}"/>
              </a:ext>
            </a:extLst>
          </p:cNvPr>
          <p:cNvSpPr txBox="1"/>
          <p:nvPr/>
        </p:nvSpPr>
        <p:spPr>
          <a:xfrm>
            <a:off x="3164440" y="1237294"/>
            <a:ext cx="4339115" cy="646331"/>
          </a:xfrm>
          <a:prstGeom prst="rect">
            <a:avLst/>
          </a:prstGeom>
          <a:noFill/>
        </p:spPr>
        <p:txBody>
          <a:bodyPr wrap="square">
            <a:spAutoFit/>
          </a:bodyPr>
          <a:lstStyle/>
          <a:p>
            <a:pPr lvl="0" algn="just" eaLnBrk="0" fontAlgn="base" hangingPunct="0">
              <a:spcBef>
                <a:spcPct val="0"/>
              </a:spcBef>
              <a:spcAft>
                <a:spcPct val="0"/>
              </a:spcAft>
            </a:pPr>
            <a:r>
              <a:rPr lang="en-IN" sz="3600" b="1" u="sng" dirty="0">
                <a:latin typeface="Times New Roman" panose="02020603050405020304" pitchFamily="18" charset="0"/>
                <a:cs typeface="Times New Roman" panose="02020603050405020304" pitchFamily="18" charset="0"/>
              </a:rPr>
              <a:t>Expected Outcomes</a:t>
            </a:r>
            <a:endParaRPr kumimoji="0" lang="en-US" altLang="en-US" sz="3600" i="0" u="sng" strike="noStrike" cap="none" normalizeH="0" baseline="0" dirty="0">
              <a:ln>
                <a:noFill/>
              </a:ln>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D3B6800-4EDD-41C0-6161-99A71B314A4B}"/>
              </a:ext>
            </a:extLst>
          </p:cNvPr>
          <p:cNvSpPr txBox="1"/>
          <p:nvPr/>
        </p:nvSpPr>
        <p:spPr>
          <a:xfrm>
            <a:off x="1138961" y="2201352"/>
            <a:ext cx="9904241" cy="3349956"/>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fully functional web application enabling couples, vendors, and guests to manage every wedding detail.</a:t>
            </a:r>
          </a:p>
          <a:p>
            <a:pPr marL="45720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Reduction in manual effort and errors.</a:t>
            </a:r>
          </a:p>
          <a:p>
            <a:pPr marL="457200" indent="-4572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Improved tracking of budget, task timelines, and vendor bookings.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Enhanced communication between clients and vendors.</a:t>
            </a:r>
            <a:endParaRPr lang="en-IN" sz="2400" dirty="0">
              <a:latin typeface="Times New Roman" panose="02020603050405020304" pitchFamily="18" charset="0"/>
              <a:cs typeface="Times New Roman" panose="02020603050405020304" pitchFamily="18" charset="0"/>
            </a:endParaRP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Higher satisfaction for all stakeholders.</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598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B7AB4-2032-03CC-A7DD-F177DBE7A74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ABD008-EF89-D952-67F6-0A4951B2612B}"/>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9</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B8B8FF2-8B2E-3299-14D1-89030FC165EC}"/>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AF28002-7B5C-16BB-EF95-1CA2EFA4AF12}"/>
              </a:ext>
            </a:extLst>
          </p:cNvPr>
          <p:cNvSpPr txBox="1"/>
          <p:nvPr/>
        </p:nvSpPr>
        <p:spPr>
          <a:xfrm>
            <a:off x="925461" y="6387786"/>
            <a:ext cx="10341077" cy="523220"/>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a:t>
            </a:r>
          </a:p>
          <a:p>
            <a:endParaRPr lang="en-IN" sz="14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2" name="Picture 11" descr="A logo of a person&#10;&#10;Description automatically generated">
            <a:extLst>
              <a:ext uri="{FF2B5EF4-FFF2-40B4-BE49-F238E27FC236}">
                <a16:creationId xmlns:a16="http://schemas.microsoft.com/office/drawing/2014/main" id="{7AFA7B02-5ABB-5984-C315-1F02903AD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19DBBD5F-3EC0-99C6-81BD-3267E20CB8A7}"/>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72940A5-6DBA-8E47-82F5-DCEC0E25ACB7}"/>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D5F8573-219B-784B-A77C-BBEA8D865AE0}"/>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3" name="TextBox 2">
            <a:extLst>
              <a:ext uri="{FF2B5EF4-FFF2-40B4-BE49-F238E27FC236}">
                <a16:creationId xmlns:a16="http://schemas.microsoft.com/office/drawing/2014/main" id="{3B2FCFEB-3FFC-464B-C48E-094CBEEBBE35}"/>
              </a:ext>
            </a:extLst>
          </p:cNvPr>
          <p:cNvSpPr txBox="1"/>
          <p:nvPr/>
        </p:nvSpPr>
        <p:spPr>
          <a:xfrm>
            <a:off x="3772498" y="1420113"/>
            <a:ext cx="3339310" cy="646331"/>
          </a:xfrm>
          <a:prstGeom prst="rect">
            <a:avLst/>
          </a:prstGeom>
          <a:noFill/>
        </p:spPr>
        <p:txBody>
          <a:bodyPr wrap="square">
            <a:spAutoFit/>
          </a:bodyPr>
          <a:lstStyle/>
          <a:p>
            <a:pPr marR="0" lvl="0" algn="ctr" defTabSz="914400" rtl="0" eaLnBrk="0" fontAlgn="base" latinLnBrk="0" hangingPunct="0">
              <a:lnSpc>
                <a:spcPct val="100000"/>
              </a:lnSpc>
              <a:spcBef>
                <a:spcPct val="0"/>
              </a:spcBef>
              <a:spcAft>
                <a:spcPct val="0"/>
              </a:spcAft>
              <a:buClrTx/>
              <a:buSzTx/>
              <a:tabLst/>
            </a:pPr>
            <a:r>
              <a:rPr lang="en-US" altLang="en-US" sz="3600" b="1" u="sng" dirty="0">
                <a:latin typeface="Times New Roman" panose="02020603050405020304" pitchFamily="18" charset="0"/>
                <a:cs typeface="Times New Roman" panose="02020603050405020304" pitchFamily="18" charset="0"/>
              </a:rPr>
              <a:t>CONCLUSION</a:t>
            </a:r>
            <a:endParaRPr kumimoji="0" lang="en-US" altLang="en-US" sz="3600" b="1" i="0" u="sng" strike="noStrike" cap="none" normalizeH="0" baseline="0" dirty="0">
              <a:ln>
                <a:noFill/>
              </a:ln>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4D78FF-F760-B32F-F16B-2C03FD278F99}"/>
              </a:ext>
            </a:extLst>
          </p:cNvPr>
          <p:cNvSpPr txBox="1"/>
          <p:nvPr/>
        </p:nvSpPr>
        <p:spPr>
          <a:xfrm>
            <a:off x="816607" y="2302821"/>
            <a:ext cx="9904240" cy="3246530"/>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Event Management System Website</a:t>
            </a:r>
            <a:r>
              <a:rPr lang="en-US" sz="2800" dirty="0">
                <a:latin typeface="Times New Roman" panose="02020603050405020304" pitchFamily="18" charset="0"/>
                <a:cs typeface="Times New Roman" panose="02020603050405020304" pitchFamily="18" charset="0"/>
              </a:rPr>
              <a:t> provides an efficient, automated, and modern solution for planning and managing events.</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bridges the gap between clients and organizers while ensuring smooth coordination, accuracy, and satisfaction.</a:t>
            </a:r>
          </a:p>
        </p:txBody>
      </p:sp>
    </p:spTree>
    <p:extLst>
      <p:ext uri="{BB962C8B-B14F-4D97-AF65-F5344CB8AC3E}">
        <p14:creationId xmlns:p14="http://schemas.microsoft.com/office/powerpoint/2010/main" val="3532316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3ABC9-47E8-0E7B-1F21-6A8DB9677D0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329EEEB-EA7D-7252-7582-3CCD8B9E81D0}"/>
              </a:ext>
            </a:extLst>
          </p:cNvPr>
          <p:cNvSpPr>
            <a:spLocks noGrp="1"/>
          </p:cNvSpPr>
          <p:nvPr>
            <p:ph type="sldNum" sz="quarter" idx="12"/>
          </p:nvPr>
        </p:nvSpPr>
        <p:spPr/>
        <p:txBody>
          <a:bodyPr/>
          <a:lstStyle/>
          <a:p>
            <a:fld id="{9BD7390E-FB1E-45CF-A40A-5C0DDC58032C}" type="slidenum">
              <a:rPr lang="en-IN" smtClean="0">
                <a:latin typeface="Times New Roman" panose="02020603050405020304" pitchFamily="18" charset="0"/>
                <a:cs typeface="Times New Roman" panose="02020603050405020304" pitchFamily="18" charset="0"/>
              </a:rPr>
              <a:pPr/>
              <a:t>10</a:t>
            </a:fld>
            <a:endParaRPr lang="en-IN">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BDA9E81-D49E-8F64-53CC-F29036A9679B}"/>
              </a:ext>
            </a:extLst>
          </p:cNvPr>
          <p:cNvSpPr txBox="1"/>
          <p:nvPr/>
        </p:nvSpPr>
        <p:spPr>
          <a:xfrm>
            <a:off x="920544" y="640634"/>
            <a:ext cx="10341077" cy="307777"/>
          </a:xfrm>
          <a:prstGeom prst="rect">
            <a:avLst/>
          </a:prstGeom>
          <a:noFill/>
        </p:spPr>
        <p:txBody>
          <a:bodyPr wrap="square" rtlCol="0">
            <a:spAutoFit/>
          </a:bodyPr>
          <a:lstStyle/>
          <a:p>
            <a:pPr algn="ctr"/>
            <a:r>
              <a:rPr lang="en-US" sz="1400" dirty="0"/>
              <a:t>           " Event Management System "</a:t>
            </a:r>
            <a:endParaRPr lang="en-IN"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51426A7-05C0-D699-4959-222A3996E1EE}"/>
              </a:ext>
            </a:extLst>
          </p:cNvPr>
          <p:cNvSpPr txBox="1"/>
          <p:nvPr/>
        </p:nvSpPr>
        <p:spPr>
          <a:xfrm>
            <a:off x="925461" y="6387786"/>
            <a:ext cx="10341077" cy="307777"/>
          </a:xfrm>
          <a:prstGeom prst="rect">
            <a:avLst/>
          </a:prstGeom>
          <a:noFill/>
        </p:spPr>
        <p:txBody>
          <a:bodyPr wrap="square" rtlCol="0">
            <a:spAutoFit/>
          </a:bodyPr>
          <a:lstStyle/>
          <a:p>
            <a:r>
              <a:rPr lang="en-IN" sz="1400" b="1" dirty="0">
                <a:solidFill>
                  <a:schemeClr val="accent2">
                    <a:lumMod val="75000"/>
                  </a:schemeClr>
                </a:solidFill>
                <a:latin typeface="Times New Roman" panose="02020603050405020304" pitchFamily="18" charset="0"/>
                <a:cs typeface="Times New Roman" panose="02020603050405020304" pitchFamily="18" charset="0"/>
              </a:rPr>
              <a:t>Dept. of CSE			                      Mini Project </a:t>
            </a:r>
          </a:p>
        </p:txBody>
      </p:sp>
      <p:pic>
        <p:nvPicPr>
          <p:cNvPr id="12" name="Picture 11" descr="A logo of a person&#10;&#10;Description automatically generated">
            <a:extLst>
              <a:ext uri="{FF2B5EF4-FFF2-40B4-BE49-F238E27FC236}">
                <a16:creationId xmlns:a16="http://schemas.microsoft.com/office/drawing/2014/main" id="{D9BD9452-AC99-652E-A3F2-BC52F87ED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540" y="234121"/>
            <a:ext cx="863841" cy="813026"/>
          </a:xfrm>
          <a:prstGeom prst="rect">
            <a:avLst/>
          </a:prstGeom>
        </p:spPr>
      </p:pic>
      <p:cxnSp>
        <p:nvCxnSpPr>
          <p:cNvPr id="13" name="Straight Connector 12">
            <a:extLst>
              <a:ext uri="{FF2B5EF4-FFF2-40B4-BE49-F238E27FC236}">
                <a16:creationId xmlns:a16="http://schemas.microsoft.com/office/drawing/2014/main" id="{37FB4F34-129E-CC63-9178-B69F27F01176}"/>
              </a:ext>
            </a:extLst>
          </p:cNvPr>
          <p:cNvCxnSpPr>
            <a:cxnSpLocks/>
          </p:cNvCxnSpPr>
          <p:nvPr/>
        </p:nvCxnSpPr>
        <p:spPr>
          <a:xfrm>
            <a:off x="299883" y="1184787"/>
            <a:ext cx="1159223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773EDEB-CF17-71E0-42DF-4BC7D819CB3A}"/>
              </a:ext>
            </a:extLst>
          </p:cNvPr>
          <p:cNvCxnSpPr/>
          <p:nvPr/>
        </p:nvCxnSpPr>
        <p:spPr>
          <a:xfrm>
            <a:off x="294967" y="6387786"/>
            <a:ext cx="11592232"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51E3CCA-44BF-DE3F-0662-DC3927DA7FDE}"/>
              </a:ext>
            </a:extLst>
          </p:cNvPr>
          <p:cNvSpPr txBox="1"/>
          <p:nvPr/>
        </p:nvSpPr>
        <p:spPr>
          <a:xfrm>
            <a:off x="1998055" y="271301"/>
            <a:ext cx="8622891" cy="369332"/>
          </a:xfrm>
          <a:prstGeom prst="rect">
            <a:avLst/>
          </a:prstGeom>
          <a:noFill/>
        </p:spPr>
        <p:txBody>
          <a:bodyPr wrap="square" rtlCol="0">
            <a:spAutoFit/>
          </a:bodyPr>
          <a:lstStyle/>
          <a:p>
            <a:pPr algn="ctr"/>
            <a:r>
              <a:rPr lang="en-IN" b="1" dirty="0">
                <a:solidFill>
                  <a:schemeClr val="accent2">
                    <a:lumMod val="75000"/>
                  </a:schemeClr>
                </a:solidFill>
              </a:rPr>
              <a:t>DEPARTMENT OF COMPUTER SCIENCE AND ENGINEERING</a:t>
            </a:r>
          </a:p>
        </p:txBody>
      </p:sp>
      <p:sp>
        <p:nvSpPr>
          <p:cNvPr id="2" name="Rectangle 1">
            <a:extLst>
              <a:ext uri="{FF2B5EF4-FFF2-40B4-BE49-F238E27FC236}">
                <a16:creationId xmlns:a16="http://schemas.microsoft.com/office/drawing/2014/main" id="{9685A945-D95D-1838-5BA9-17369AC58532}"/>
              </a:ext>
            </a:extLst>
          </p:cNvPr>
          <p:cNvSpPr/>
          <p:nvPr/>
        </p:nvSpPr>
        <p:spPr>
          <a:xfrm>
            <a:off x="3271284" y="2980194"/>
            <a:ext cx="5157823" cy="1107996"/>
          </a:xfrm>
          <a:prstGeom prst="rect">
            <a:avLst/>
          </a:prstGeom>
          <a:noFill/>
        </p:spPr>
        <p:txBody>
          <a:bodyPr wrap="none" lIns="91440" tIns="45720" rIns="91440" bIns="45720">
            <a:spAutoFit/>
          </a:bodyPr>
          <a:lstStyle/>
          <a:p>
            <a:pPr algn="ctr"/>
            <a:r>
              <a:rPr lang="en-US" sz="6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386399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TotalTime>
  <Words>681</Words>
  <Application>Microsoft Office PowerPoint</Application>
  <PresentationFormat>Widescreen</PresentationFormat>
  <Paragraphs>96</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Bahnschrift</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 ganesh</dc:creator>
  <cp:lastModifiedBy>kiranhs2005@gmail.com</cp:lastModifiedBy>
  <cp:revision>13</cp:revision>
  <dcterms:created xsi:type="dcterms:W3CDTF">2025-09-14T05:11:18Z</dcterms:created>
  <dcterms:modified xsi:type="dcterms:W3CDTF">2025-10-16T17:26:27Z</dcterms:modified>
</cp:coreProperties>
</file>